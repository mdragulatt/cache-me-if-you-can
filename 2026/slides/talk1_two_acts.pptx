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phases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language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🤘</a:t>
            </a:r>
            <a:r>
              <a:rPr/>
              <a:t> </a:t>
            </a:r>
            <a:r>
              <a:rPr/>
              <a:t>Cache</a:t>
            </a:r>
            <a:r>
              <a:rPr/>
              <a:t> </a:t>
            </a:r>
            <a:r>
              <a:rPr/>
              <a:t>Me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1</a:t>
            </a:r>
            <a:br/>
            <a:br/>
            <a:r>
              <a:rPr/>
              <a:t>Maciek</a:t>
            </a:r>
            <a:r>
              <a:rPr/>
              <a:t> </a:t>
            </a:r>
            <a:r>
              <a:rPr/>
              <a:t>Draguła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Nathan</a:t>
            </a:r>
            <a:r>
              <a:rPr/>
              <a:t> </a:t>
            </a:r>
            <a:r>
              <a:rPr/>
              <a:t>Maurice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PL</a:t>
            </a:r>
            <a:r>
              <a:rPr/>
              <a:t> </a:t>
            </a:r>
            <a:r>
              <a:rPr/>
              <a:t>2026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October</a:t>
            </a:r>
            <a:r>
              <a:rPr/>
              <a:t> </a:t>
            </a:r>
            <a:r>
              <a:rPr/>
              <a:t>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notice</a:t>
            </a:r>
            <a:r>
              <a:rPr/>
              <a:t> </a:t>
            </a:r>
            <a:r>
              <a:rPr/>
              <a:t>when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chat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You press Enter. For a moment, nothing happens.</a:t>
            </a:r>
          </a:p>
          <a:p>
            <a:pPr lvl="1"/>
            <a:r>
              <a:rPr/>
              <a:t>Then the answer arrives one piece at a time, at a steady pace.</a:t>
            </a:r>
          </a:p>
          <a:p>
            <a:pPr lvl="1"/>
            <a:r>
              <a:rPr/>
              <a:t>These are two different jobs. This morning you will measure both.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Words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will</a:t>
            </a:r>
            <a:r>
              <a:rPr/>
              <a:t> </a:t>
            </a:r>
            <a:r>
              <a:rPr/>
              <a:t>hear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morning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Token</a:t>
            </a:r>
            <a:r>
              <a:rPr/>
              <a:t>: a piece of text, usually a word or part of a word. Models read and write tokens.</a:t>
            </a:r>
          </a:p>
          <a:p>
            <a:pPr lvl="1"/>
            <a:r>
              <a:rPr b="1"/>
              <a:t>Time to first token (TTFT)</a:t>
            </a:r>
            <a:r>
              <a:rPr/>
              <a:t>: from sending the prompt to the first token of the answer.</a:t>
            </a:r>
          </a:p>
          <a:p>
            <a:pPr lvl="1"/>
            <a:r>
              <a:rPr b="1"/>
              <a:t>Tokens per second per user</a:t>
            </a:r>
            <a:r>
              <a:rPr/>
              <a:t>: how fast the answer arrives once it has started.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Phase</a:t>
            </a:r>
            <a:r>
              <a:rPr/>
              <a:t> </a:t>
            </a:r>
            <a:r>
              <a:rPr/>
              <a:t>one:</a:t>
            </a:r>
            <a:r>
              <a:rPr/>
              <a:t> </a:t>
            </a:r>
            <a:r>
              <a:rPr/>
              <a:t>prefill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model reads the </a:t>
            </a:r>
            <a:r>
              <a:rPr b="1"/>
              <a:t>whole prompt in one pass</a:t>
            </a:r>
            <a:r>
              <a:rPr/>
              <a:t> and builds its internal state (the KV cache: Act II).</a:t>
            </a:r>
          </a:p>
          <a:p>
            <a:pPr lvl="1"/>
            <a:r>
              <a:rPr/>
              <a:t>In every layer, a matrix of all prompt tokens is multiplied by the layer’s weights.</a:t>
            </a:r>
          </a:p>
          <a:p>
            <a:pPr lvl="1"/>
            <a:r>
              <a:rPr/>
              <a:t>The weights are read from memory </a:t>
            </a:r>
            <a:r>
              <a:rPr b="1"/>
              <a:t>once</a:t>
            </a:r>
            <a:r>
              <a:rPr/>
              <a:t>, and used for every token of the prompt.</a:t>
            </a:r>
          </a:p>
          <a:p>
            <a:pPr lvl="1"/>
            <a:r>
              <a:rPr/>
              <a:t>Prefill decides the </a:t>
            </a:r>
            <a:r>
              <a:rPr b="1"/>
              <a:t>time to first token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Phase</a:t>
            </a:r>
            <a:r>
              <a:rPr/>
              <a:t> </a:t>
            </a:r>
            <a:r>
              <a:rPr/>
              <a:t>two:</a:t>
            </a:r>
            <a:r>
              <a:rPr/>
              <a:t> </a:t>
            </a:r>
            <a:r>
              <a:rPr/>
              <a:t>decode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answer is written </a:t>
            </a:r>
            <a:r>
              <a:rPr b="1"/>
              <a:t>one token at a time</a:t>
            </a:r>
            <a:r>
              <a:rPr/>
              <a:t>.</a:t>
            </a:r>
          </a:p>
          <a:p>
            <a:pPr lvl="1"/>
            <a:r>
              <a:rPr/>
              <a:t>Each new token needs a </a:t>
            </a:r>
            <a:r>
              <a:rPr b="1"/>
              <a:t>full pass</a:t>
            </a:r>
            <a:r>
              <a:rPr/>
              <a:t> through the model, for that one token.</a:t>
            </a:r>
          </a:p>
          <a:p>
            <a:pPr lvl="1"/>
            <a:r>
              <a:rPr/>
              <a:t>Every weight is read from memory again, and used for just one multiplication and one addition.</a:t>
            </a:r>
          </a:p>
          <a:p>
            <a:pPr lvl="1"/>
            <a:r>
              <a:rPr/>
              <a:t>Decode decides the </a:t>
            </a:r>
            <a:r>
              <a:rPr b="1"/>
              <a:t>tokens per second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Prefill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decode,</a:t>
            </a:r>
            <a:r>
              <a:rPr/>
              <a:t> </a:t>
            </a:r>
            <a:r>
              <a:rPr/>
              <a:t>side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side</a:t>
            </a:r>
          </a:p>
        </p:txBody>
      </p:sp>
      <p:pic>
        <p:nvPicPr>
          <p:cNvPr descr="media/prefill_de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82800"/>
            <a:ext cx="82296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Compute-bound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memory-bound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Compute-bound</a:t>
            </a:r>
            <a:r>
              <a:rPr/>
              <a:t>: the time is set by how much arithmetic the cores have to do.</a:t>
            </a:r>
          </a:p>
          <a:p>
            <a:pPr lvl="1"/>
            <a:r>
              <a:rPr b="1"/>
              <a:t>Memory-bound</a:t>
            </a:r>
            <a:r>
              <a:rPr/>
              <a:t>: the time is set by how many bytes have to travel from memory to the cores.</a:t>
            </a:r>
          </a:p>
          <a:p>
            <a:pPr lvl="1"/>
            <a:r>
              <a:rPr/>
              <a:t>Before a core can use a weight, the weight has to travel from memory (DRAM) to the core.</a:t>
            </a:r>
          </a:p>
          <a:p>
            <a:pPr lvl="1"/>
            <a:r>
              <a:rPr b="1"/>
              <a:t>Prefill</a:t>
            </a:r>
            <a:r>
              <a:rPr/>
              <a:t> uses each weight hundreds of times once it arrives, so the arithmetic takes most of the time: </a:t>
            </a:r>
            <a:r>
              <a:rPr b="1"/>
              <a:t>compute-bound</a:t>
            </a:r>
            <a:r>
              <a:rPr/>
              <a:t>.</a:t>
            </a:r>
          </a:p>
          <a:p>
            <a:pPr lvl="1"/>
            <a:r>
              <a:rPr b="1"/>
              <a:t>Decode</a:t>
            </a:r>
            <a:r>
              <a:rPr/>
              <a:t> uses each weight once, so most of the time goes into waiting for the next weight: </a:t>
            </a:r>
            <a:r>
              <a:rPr b="1"/>
              <a:t>memory-bound</a:t>
            </a:r>
            <a:r>
              <a:rPr/>
              <a:t>.</a:t>
            </a:r>
          </a:p>
          <a:p>
            <a:pPr lvl="1"/>
            <a:r>
              <a:rPr/>
              <a:t>Same model, same chip, two different limits.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speed</a:t>
            </a:r>
            <a:r>
              <a:rPr/>
              <a:t> </a:t>
            </a:r>
            <a:r>
              <a:rPr/>
              <a:t>limit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work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napkin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At one user, each decode step reads all the weights once.</a:t>
            </a:r>
          </a:p>
          <a:p>
            <a:pPr lvl="1"/>
            <a:r>
              <a:rPr/>
              <a:t>minimum time per token = bytes read per step ÷ memory bandwidth</a:t>
            </a:r>
          </a:p>
          <a:p>
            <a:pPr lvl="1"/>
            <a:r>
              <a:rPr/>
              <a:t>Example: 1.8 GB read per token ÷ 288 GB/s (one n150) ≈ 6.2 ms, so at most about 160 tokens per second.</a:t>
            </a:r>
          </a:p>
          <a:p>
            <a:pPr lvl="1"/>
            <a:r>
              <a:rPr/>
              <a:t>For one user and these number formats, a program that reads every weight once per token can only get closer to it.</a:t>
            </a:r>
          </a:p>
          <a:p>
            <a:pPr lvl="1"/>
            <a:r>
              <a:rPr/>
              <a:t>Smaller formats, batching and speculative decoding move the limit itself: Act III and Talk 3.</a:t>
            </a:r>
          </a:p>
          <a:p>
            <a:pPr lvl="1"/>
            <a:r>
              <a:rPr/>
              <a:t>The same formula works for any accelerator, GPUs included.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Act</a:t>
            </a:r>
            <a:r>
              <a:rPr/>
              <a:t> </a:t>
            </a:r>
            <a:r>
              <a:rPr/>
              <a:t>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Your model answers a question.</a:t>
            </a:r>
          </a:p>
          <a:p>
            <a:pPr lvl="1"/>
            <a:r>
              <a:rPr/>
              <a:t>Time both phases against prompt length.</a:t>
            </a:r>
          </a:p>
          <a:p>
            <a:pPr lvl="1"/>
            <a:r>
              <a:rPr/>
              <a:t>Work out the speed limit for your model on your card, and compare.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phases of a language model</dc:title>
  <dc:creator>Maciek Draguła · Nathan Maurice</dc:creator>
  <cp:keywords/>
  <dcterms:created xsi:type="dcterms:W3CDTF">2026-10-10T12:54:56Z</dcterms:created>
  <dcterms:modified xsi:type="dcterms:W3CDTF">2026-10-10T12:54:56Z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ML in PL 2026 · October 11</vt:lpwstr>
  </property>
  <property fmtid="{D5CDD505-2E9C-101B-9397-08002B2CF9AE}" pid="3" name="subtitle">
    <vt:lpwstr>🤘 Cache Me If You Can · Talk 1</vt:lpwstr>
  </property>
</Properties>
</file>